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733" r:id="rId2"/>
    <p:sldId id="749" r:id="rId3"/>
    <p:sldId id="750" r:id="rId4"/>
    <p:sldId id="751" r:id="rId5"/>
    <p:sldId id="753" r:id="rId6"/>
    <p:sldId id="754" r:id="rId7"/>
    <p:sldId id="755" r:id="rId8"/>
    <p:sldId id="756" r:id="rId9"/>
    <p:sldId id="759" r:id="rId10"/>
    <p:sldId id="752" r:id="rId11"/>
    <p:sldId id="757" r:id="rId12"/>
    <p:sldId id="758" r:id="rId13"/>
    <p:sldId id="761" r:id="rId14"/>
    <p:sldId id="762" r:id="rId15"/>
    <p:sldId id="763" r:id="rId16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60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7B0B06F-39AD-5055-EFBB-999812D79FCC}" name="Aldeia Machado, Luiz Carlos" initials="LA" userId="S::lca5209@psu.edu::12747613-8458-429d-9687-5a83db32eea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E0B4"/>
    <a:srgbClr val="CCECFF"/>
    <a:srgbClr val="BDD7EE"/>
    <a:srgbClr val="4F4FFF"/>
    <a:srgbClr val="FBFBFB"/>
    <a:srgbClr val="000000"/>
    <a:srgbClr val="0D2241"/>
    <a:srgbClr val="0077D4"/>
    <a:srgbClr val="A7A8A6"/>
    <a:srgbClr val="1050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78"/>
      </p:cViewPr>
      <p:guideLst>
        <p:guide orient="horz" pos="2184"/>
        <p:guide pos="6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DC9B2AF-FF93-9443-8132-C0BAE0160594}" type="datetimeFigureOut">
              <a:rPr lang="en-US"/>
              <a:pPr>
                <a:defRPr/>
              </a:pPr>
              <a:t>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D5BBCF3-B909-0E47-AFC1-794F620114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1901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96D589F-5847-1648-9C0C-18AD595551BD}" type="datetimeFigureOut">
              <a:rPr lang="en-US"/>
              <a:pPr>
                <a:defRPr/>
              </a:pPr>
              <a:t>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2DB5684E-388A-574C-9362-1C84C7B37B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695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DB5684E-388A-574C-9362-1C84C7B37B81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836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4C927-B11B-A70A-6527-63C165928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964283-8726-B0F0-80DD-281DCACCB0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4FE4C4-08F4-9487-C895-3883A31912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D70633-824B-80A9-58AC-1A72B7532C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DB5684E-388A-574C-9362-1C84C7B37B81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214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-237977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D2241"/>
              </a:gs>
              <a:gs pos="100000">
                <a:srgbClr val="002D73"/>
              </a:gs>
            </a:gsLst>
            <a:lin ang="1404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3" y="6283105"/>
            <a:ext cx="8863724" cy="574896"/>
          </a:xfrm>
          <a:prstGeom prst="rect">
            <a:avLst/>
          </a:prstGeom>
          <a:solidFill>
            <a:srgbClr val="007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"/>
              <a:cs typeface="Cambria"/>
            </a:endParaRP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862743" y="819342"/>
            <a:ext cx="9405308" cy="194144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lnSpc>
                <a:spcPts val="6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62744" y="2860987"/>
            <a:ext cx="9404349" cy="758825"/>
          </a:xfrm>
        </p:spPr>
        <p:txBody>
          <a:bodyPr>
            <a:normAutofit/>
          </a:bodyPr>
          <a:lstStyle>
            <a:lvl1pPr marL="0" indent="0">
              <a:buNone/>
              <a:defRPr sz="2600" i="1">
                <a:solidFill>
                  <a:srgbClr val="BCD9E2"/>
                </a:solidFill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ight Triangle 6"/>
          <p:cNvSpPr/>
          <p:nvPr userDrawn="1"/>
        </p:nvSpPr>
        <p:spPr>
          <a:xfrm flipH="1">
            <a:off x="5903790" y="4949984"/>
            <a:ext cx="6288207" cy="1908018"/>
          </a:xfrm>
          <a:prstGeom prst="rtTriangle">
            <a:avLst/>
          </a:prstGeom>
          <a:solidFill>
            <a:srgbClr val="007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 userDrawn="1"/>
        </p:nvSpPr>
        <p:spPr>
          <a:xfrm flipH="1">
            <a:off x="5903785" y="5214497"/>
            <a:ext cx="6288211" cy="1643513"/>
          </a:xfrm>
          <a:prstGeom prst="rtTriangle">
            <a:avLst/>
          </a:prstGeom>
          <a:solidFill>
            <a:srgbClr val="E2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PSU_ENG_RGB_287_284-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9139" y="5891934"/>
            <a:ext cx="3739476" cy="1000399"/>
          </a:xfrm>
          <a:prstGeom prst="rect">
            <a:avLst/>
          </a:prstGeom>
        </p:spPr>
      </p:pic>
      <p:sp>
        <p:nvSpPr>
          <p:cNvPr id="12" name="TextBox 11"/>
          <p:cNvSpPr txBox="1"/>
          <p:nvPr userDrawn="1"/>
        </p:nvSpPr>
        <p:spPr>
          <a:xfrm>
            <a:off x="81757" y="6367517"/>
            <a:ext cx="6539767" cy="455448"/>
          </a:xfrm>
          <a:prstGeom prst="rect">
            <a:avLst/>
          </a:prstGeom>
        </p:spPr>
        <p:txBody>
          <a:bodyPr vert="horz" wrap="none" lIns="91440" tIns="45720" rIns="91440" bIns="45720" rtlCol="0" anchor="b">
            <a:noAutofit/>
          </a:bodyPr>
          <a:lstStyle/>
          <a:p>
            <a:r>
              <a:rPr lang="en-US" sz="1400" b="0" i="1">
                <a:solidFill>
                  <a:schemeClr val="bg1"/>
                </a:solidFill>
                <a:latin typeface="Cambria"/>
                <a:cs typeface="Cambria"/>
              </a:rPr>
              <a:t>Ken and Mary Alice Lindquist </a:t>
            </a:r>
          </a:p>
          <a:p>
            <a:r>
              <a:rPr lang="en-US" sz="1400" b="0" i="1">
                <a:solidFill>
                  <a:schemeClr val="bg1"/>
                </a:solidFill>
                <a:latin typeface="Cambria"/>
                <a:cs typeface="Cambria"/>
              </a:rPr>
              <a:t>Department of Nuclear Engineering</a:t>
            </a:r>
          </a:p>
        </p:txBody>
      </p:sp>
    </p:spTree>
    <p:extLst>
      <p:ext uri="{BB962C8B-B14F-4D97-AF65-F5344CB8AC3E}">
        <p14:creationId xmlns:p14="http://schemas.microsoft.com/office/powerpoint/2010/main" val="29137542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Text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64240" cy="635388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0" y="1419225"/>
            <a:ext cx="11064240" cy="368768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B373D37-BFFA-8258-594D-EF3EA9BC9E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B2D39-3515-48F5-9980-35C78B3C69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750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239" y="0"/>
            <a:ext cx="12187767" cy="6858000"/>
          </a:xfrm>
          <a:prstGeom prst="rect">
            <a:avLst/>
          </a:prstGeom>
          <a:gradFill flip="none" rotWithShape="1">
            <a:gsLst>
              <a:gs pos="0">
                <a:srgbClr val="002D73"/>
              </a:gs>
              <a:gs pos="100000">
                <a:srgbClr val="0D2241"/>
              </a:gs>
            </a:gsLst>
            <a:lin ang="312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6577724"/>
            <a:ext cx="9751264" cy="280276"/>
          </a:xfrm>
          <a:prstGeom prst="rect">
            <a:avLst/>
          </a:prstGeom>
          <a:solidFill>
            <a:srgbClr val="007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"/>
              <a:cs typeface="Cambria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81757" y="6586777"/>
            <a:ext cx="8485601" cy="254000"/>
          </a:xfrm>
          <a:prstGeom prst="rect">
            <a:avLst/>
          </a:prstGeom>
        </p:spPr>
        <p:txBody>
          <a:bodyPr vert="horz" wrap="none" lIns="91440" tIns="45720" rIns="91440" bIns="45720" rtlCol="0" anchor="b">
            <a:noAutofit/>
          </a:bodyPr>
          <a:lstStyle/>
          <a:p>
            <a:r>
              <a:rPr lang="en-US" sz="1200" b="0" i="1">
                <a:solidFill>
                  <a:schemeClr val="bg1"/>
                </a:solidFill>
                <a:latin typeface="Cambria"/>
                <a:cs typeface="Cambria"/>
              </a:rPr>
              <a:t>Ken and Mary Alice Lindquist Department</a:t>
            </a:r>
            <a:r>
              <a:rPr lang="en-US" sz="1200" b="0" i="1" baseline="0">
                <a:solidFill>
                  <a:schemeClr val="bg1"/>
                </a:solidFill>
                <a:latin typeface="Cambria"/>
                <a:cs typeface="Cambria"/>
              </a:rPr>
              <a:t> of Nuclear Engineering</a:t>
            </a:r>
            <a:endParaRPr lang="en-US" sz="1200" b="0" i="1">
              <a:solidFill>
                <a:schemeClr val="bg1"/>
              </a:solidFill>
              <a:latin typeface="Cambria"/>
              <a:cs typeface="Cambri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1974"/>
            <a:ext cx="7198040" cy="267245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48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PSU_ENG_RGB_287_284-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3109" y="6315684"/>
            <a:ext cx="2155504" cy="576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24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4239" y="0"/>
            <a:ext cx="12187767" cy="6858000"/>
          </a:xfrm>
          <a:prstGeom prst="rect">
            <a:avLst/>
          </a:prstGeom>
          <a:gradFill flip="none" rotWithShape="1">
            <a:gsLst>
              <a:gs pos="0">
                <a:srgbClr val="105091"/>
              </a:gs>
              <a:gs pos="100000">
                <a:srgbClr val="0077D4"/>
              </a:gs>
            </a:gsLst>
            <a:lin ang="1266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6577724"/>
            <a:ext cx="9751264" cy="280276"/>
          </a:xfrm>
          <a:prstGeom prst="rect">
            <a:avLst/>
          </a:prstGeom>
          <a:solidFill>
            <a:srgbClr val="002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"/>
              <a:cs typeface="Cambria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81757" y="6586777"/>
            <a:ext cx="8485601" cy="254000"/>
          </a:xfrm>
          <a:prstGeom prst="rect">
            <a:avLst/>
          </a:prstGeom>
        </p:spPr>
        <p:txBody>
          <a:bodyPr vert="horz" wrap="none" lIns="91440" tIns="45720" rIns="91440" bIns="45720" rtlCol="0" anchor="b">
            <a:noAutofit/>
          </a:bodyPr>
          <a:lstStyle/>
          <a:p>
            <a:r>
              <a:rPr lang="en-US" sz="1200" b="0" i="1">
                <a:solidFill>
                  <a:schemeClr val="bg1"/>
                </a:solidFill>
                <a:latin typeface="Cambria"/>
                <a:cs typeface="Cambria"/>
              </a:rPr>
              <a:t>Ken and Mary Alice Lindquist Department</a:t>
            </a:r>
            <a:r>
              <a:rPr lang="en-US" sz="1200" b="0" i="1" baseline="0">
                <a:solidFill>
                  <a:schemeClr val="bg1"/>
                </a:solidFill>
                <a:latin typeface="Cambria"/>
                <a:cs typeface="Cambria"/>
              </a:rPr>
              <a:t> of Nuclear Engineering</a:t>
            </a:r>
            <a:endParaRPr lang="en-US" sz="1200" b="0" i="1">
              <a:solidFill>
                <a:schemeClr val="bg1"/>
              </a:solidFill>
              <a:latin typeface="Cambria"/>
              <a:cs typeface="Cambria"/>
            </a:endParaRPr>
          </a:p>
        </p:txBody>
      </p:sp>
      <p:sp>
        <p:nvSpPr>
          <p:cNvPr id="4" name="Right Triangle 3"/>
          <p:cNvSpPr/>
          <p:nvPr userDrawn="1"/>
        </p:nvSpPr>
        <p:spPr>
          <a:xfrm flipH="1">
            <a:off x="8567351" y="5758193"/>
            <a:ext cx="3624640" cy="1099817"/>
          </a:xfrm>
          <a:prstGeom prst="rtTriangle">
            <a:avLst/>
          </a:prstGeom>
          <a:solidFill>
            <a:srgbClr val="007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 userDrawn="1"/>
        </p:nvSpPr>
        <p:spPr>
          <a:xfrm flipH="1">
            <a:off x="8567353" y="5910649"/>
            <a:ext cx="3624643" cy="947352"/>
          </a:xfrm>
          <a:prstGeom prst="rtTriangle">
            <a:avLst/>
          </a:prstGeom>
          <a:solidFill>
            <a:srgbClr val="E2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PSU_ENG_RGB_287_284-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3109" y="6315684"/>
            <a:ext cx="2155504" cy="57664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756389"/>
            <a:ext cx="7161428" cy="2211502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2144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n-bullet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ackground2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0" y="6577724"/>
            <a:ext cx="9751264" cy="280276"/>
          </a:xfrm>
          <a:prstGeom prst="rect">
            <a:avLst/>
          </a:prstGeom>
          <a:solidFill>
            <a:srgbClr val="002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"/>
              <a:cs typeface="Cambria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81757" y="6586777"/>
            <a:ext cx="8485601" cy="254000"/>
          </a:xfrm>
          <a:prstGeom prst="rect">
            <a:avLst/>
          </a:prstGeom>
        </p:spPr>
        <p:txBody>
          <a:bodyPr vert="horz" wrap="none" lIns="91440" tIns="45720" rIns="91440" bIns="45720" rtlCol="0" anchor="b">
            <a:noAutofit/>
          </a:bodyPr>
          <a:lstStyle/>
          <a:p>
            <a:r>
              <a:rPr lang="en-US" sz="1200" b="0" i="1">
                <a:solidFill>
                  <a:schemeClr val="bg1"/>
                </a:solidFill>
                <a:latin typeface="Cambria"/>
                <a:cs typeface="Cambria"/>
              </a:rPr>
              <a:t>Ken and Mary Alice Lindquist Department</a:t>
            </a:r>
            <a:r>
              <a:rPr lang="en-US" sz="1200" b="0" i="1" baseline="0">
                <a:solidFill>
                  <a:schemeClr val="bg1"/>
                </a:solidFill>
                <a:latin typeface="Cambria"/>
                <a:cs typeface="Cambria"/>
              </a:rPr>
              <a:t> of Nuclear Engineering</a:t>
            </a:r>
            <a:endParaRPr lang="en-US" sz="1200" b="0" i="1">
              <a:solidFill>
                <a:schemeClr val="bg1"/>
              </a:solidFill>
              <a:latin typeface="Cambria"/>
              <a:cs typeface="Cambri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21703"/>
            <a:ext cx="10972800" cy="10285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488933"/>
            <a:ext cx="10972800" cy="444488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ight Triangle 4"/>
          <p:cNvSpPr/>
          <p:nvPr userDrawn="1"/>
        </p:nvSpPr>
        <p:spPr>
          <a:xfrm flipH="1">
            <a:off x="8567351" y="5758193"/>
            <a:ext cx="3624640" cy="1099817"/>
          </a:xfrm>
          <a:prstGeom prst="rtTriangle">
            <a:avLst/>
          </a:prstGeom>
          <a:solidFill>
            <a:srgbClr val="007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/>
          <p:cNvSpPr/>
          <p:nvPr userDrawn="1"/>
        </p:nvSpPr>
        <p:spPr>
          <a:xfrm flipH="1">
            <a:off x="8567353" y="5910649"/>
            <a:ext cx="3624643" cy="947352"/>
          </a:xfrm>
          <a:prstGeom prst="rtTriangle">
            <a:avLst/>
          </a:prstGeom>
          <a:solidFill>
            <a:srgbClr val="E2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PSU_ENG_RGB_287_284-01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3109" y="6315684"/>
            <a:ext cx="2155504" cy="576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51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n-bullet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ackground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0" y="6577724"/>
            <a:ext cx="9751264" cy="280276"/>
          </a:xfrm>
          <a:prstGeom prst="rect">
            <a:avLst/>
          </a:prstGeom>
          <a:solidFill>
            <a:srgbClr val="002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"/>
              <a:cs typeface="Cambria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81757" y="6586777"/>
            <a:ext cx="8485601" cy="254000"/>
          </a:xfrm>
          <a:prstGeom prst="rect">
            <a:avLst/>
          </a:prstGeom>
        </p:spPr>
        <p:txBody>
          <a:bodyPr vert="horz" wrap="none" lIns="91440" tIns="45720" rIns="91440" bIns="45720" rtlCol="0" anchor="b">
            <a:noAutofit/>
          </a:bodyPr>
          <a:lstStyle/>
          <a:p>
            <a:r>
              <a:rPr lang="en-US" sz="1200" b="0" i="1">
                <a:solidFill>
                  <a:schemeClr val="bg1"/>
                </a:solidFill>
                <a:latin typeface="Cambria"/>
                <a:cs typeface="Cambria"/>
              </a:rPr>
              <a:t>Ken and Mary Alice Lindquist Department</a:t>
            </a:r>
            <a:r>
              <a:rPr lang="en-US" sz="1200" b="0" i="1" baseline="0">
                <a:solidFill>
                  <a:schemeClr val="bg1"/>
                </a:solidFill>
                <a:latin typeface="Cambria"/>
                <a:cs typeface="Cambria"/>
              </a:rPr>
              <a:t> of Nuclear Engineering</a:t>
            </a:r>
            <a:endParaRPr lang="en-US" sz="1200" b="0" i="1">
              <a:solidFill>
                <a:schemeClr val="bg1"/>
              </a:solidFill>
              <a:latin typeface="Cambria"/>
              <a:cs typeface="Cambri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21703"/>
            <a:ext cx="10972800" cy="10285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488933"/>
            <a:ext cx="10972800" cy="444488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ight Triangle 4"/>
          <p:cNvSpPr/>
          <p:nvPr userDrawn="1"/>
        </p:nvSpPr>
        <p:spPr>
          <a:xfrm flipH="1">
            <a:off x="8567351" y="5758193"/>
            <a:ext cx="3624640" cy="1099817"/>
          </a:xfrm>
          <a:prstGeom prst="rtTriangle">
            <a:avLst/>
          </a:prstGeom>
          <a:solidFill>
            <a:srgbClr val="007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/>
          <p:cNvSpPr/>
          <p:nvPr userDrawn="1"/>
        </p:nvSpPr>
        <p:spPr>
          <a:xfrm flipH="1">
            <a:off x="8567353" y="5910649"/>
            <a:ext cx="3624643" cy="947352"/>
          </a:xfrm>
          <a:prstGeom prst="rtTriangle">
            <a:avLst/>
          </a:prstGeom>
          <a:solidFill>
            <a:srgbClr val="E2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PSU_ENG_RGB_287_284-01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3109" y="6315684"/>
            <a:ext cx="2155504" cy="576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603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on-bullet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ackground4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" y="0"/>
            <a:ext cx="12192000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0" y="6577724"/>
            <a:ext cx="9751264" cy="280276"/>
          </a:xfrm>
          <a:prstGeom prst="rect">
            <a:avLst/>
          </a:prstGeom>
          <a:solidFill>
            <a:srgbClr val="002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"/>
              <a:cs typeface="Cambria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81757" y="6586777"/>
            <a:ext cx="8485601" cy="254000"/>
          </a:xfrm>
          <a:prstGeom prst="rect">
            <a:avLst/>
          </a:prstGeom>
        </p:spPr>
        <p:txBody>
          <a:bodyPr vert="horz" wrap="none" lIns="91440" tIns="45720" rIns="91440" bIns="45720" rtlCol="0" anchor="b">
            <a:noAutofit/>
          </a:bodyPr>
          <a:lstStyle/>
          <a:p>
            <a:r>
              <a:rPr lang="en-US" sz="1200" b="0" i="1">
                <a:solidFill>
                  <a:schemeClr val="bg1"/>
                </a:solidFill>
                <a:latin typeface="Cambria"/>
                <a:cs typeface="Cambria"/>
              </a:rPr>
              <a:t>Ken and Mary Alice Lindquist Department</a:t>
            </a:r>
            <a:r>
              <a:rPr lang="en-US" sz="1200" b="0" i="1" baseline="0">
                <a:solidFill>
                  <a:schemeClr val="bg1"/>
                </a:solidFill>
                <a:latin typeface="Cambria"/>
                <a:cs typeface="Cambria"/>
              </a:rPr>
              <a:t> of Nuclear Engineering</a:t>
            </a:r>
            <a:endParaRPr lang="en-US" sz="1200" b="0" i="1">
              <a:solidFill>
                <a:schemeClr val="bg1"/>
              </a:solidFill>
              <a:latin typeface="Cambria"/>
              <a:cs typeface="Cambri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21703"/>
            <a:ext cx="10972800" cy="10285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488933"/>
            <a:ext cx="10972800" cy="444488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ight Triangle 4"/>
          <p:cNvSpPr/>
          <p:nvPr userDrawn="1"/>
        </p:nvSpPr>
        <p:spPr>
          <a:xfrm flipH="1">
            <a:off x="8567351" y="5758193"/>
            <a:ext cx="3624640" cy="1099817"/>
          </a:xfrm>
          <a:prstGeom prst="rtTriangle">
            <a:avLst/>
          </a:prstGeom>
          <a:solidFill>
            <a:srgbClr val="007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/>
          <p:cNvSpPr/>
          <p:nvPr userDrawn="1"/>
        </p:nvSpPr>
        <p:spPr>
          <a:xfrm flipH="1">
            <a:off x="8567353" y="5910649"/>
            <a:ext cx="3624643" cy="947352"/>
          </a:xfrm>
          <a:prstGeom prst="rtTriangle">
            <a:avLst/>
          </a:prstGeom>
          <a:solidFill>
            <a:srgbClr val="E2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PSU_ENG_RGB_287_284-01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3109" y="6315684"/>
            <a:ext cx="2155504" cy="576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844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751317"/>
            <a:ext cx="7315200" cy="3976258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178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84623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428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549512"/>
            <a:ext cx="12192000" cy="308488"/>
          </a:xfrm>
          <a:prstGeom prst="rect">
            <a:avLst/>
          </a:prstGeom>
          <a:solidFill>
            <a:srgbClr val="002D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"/>
              <a:cs typeface="Cambria"/>
            </a:endParaRPr>
          </a:p>
        </p:txBody>
      </p: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65113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484318"/>
            <a:ext cx="10972800" cy="419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7351" y="6551454"/>
            <a:ext cx="4978400" cy="306549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sz="1400" b="0" i="1">
                <a:solidFill>
                  <a:schemeClr val="bg1"/>
                </a:solidFill>
                <a:latin typeface="Cambria"/>
                <a:cs typeface="Cambria"/>
              </a:rPr>
              <a:t>Ken and Mary Alice Lindquist Department</a:t>
            </a:r>
            <a:r>
              <a:rPr lang="en-US" sz="1400" b="0" i="1" baseline="0">
                <a:solidFill>
                  <a:schemeClr val="bg1"/>
                </a:solidFill>
                <a:latin typeface="Cambria"/>
                <a:cs typeface="Cambria"/>
              </a:rPr>
              <a:t> of Nuclear Engineering</a:t>
            </a:r>
            <a:endParaRPr lang="en-US" sz="1400" b="0" i="1">
              <a:solidFill>
                <a:schemeClr val="bg1"/>
              </a:solidFill>
              <a:latin typeface="Cambria"/>
              <a:cs typeface="Cambria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D710DD-72E8-02EE-C30F-B655E0CBC5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53100" y="6551454"/>
            <a:ext cx="685800" cy="308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fld id="{A0CB2D39-3515-48F5-9980-35C78B3C694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Penn State Department of Nuclear Engineering">
            <a:extLst>
              <a:ext uri="{FF2B5EF4-FFF2-40B4-BE49-F238E27FC236}">
                <a16:creationId xmlns:a16="http://schemas.microsoft.com/office/drawing/2014/main" id="{2B57410F-5CF4-9999-DE54-18FAFC04B3D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251" b="59463"/>
          <a:stretch/>
        </p:blipFill>
        <p:spPr bwMode="auto">
          <a:xfrm>
            <a:off x="10544972" y="6551455"/>
            <a:ext cx="1259681" cy="306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1" r:id="rId2"/>
    <p:sldLayoutId id="2147483689" r:id="rId3"/>
    <p:sldLayoutId id="2147483683" r:id="rId4"/>
    <p:sldLayoutId id="2147483682" r:id="rId5"/>
    <p:sldLayoutId id="2147483690" r:id="rId6"/>
    <p:sldLayoutId id="2147483691" r:id="rId7"/>
    <p:sldLayoutId id="2147483684" r:id="rId8"/>
    <p:sldLayoutId id="2147483685" r:id="rId9"/>
  </p:sldLayoutIdLst>
  <p:hf hdr="0" ftr="0" dt="0"/>
  <p:txStyles>
    <p:titleStyle>
      <a:lvl1pPr algn="l" defTabSz="457178" rtl="0" eaLnBrk="1" fontAlgn="base" hangingPunct="1">
        <a:spcBef>
          <a:spcPct val="0"/>
        </a:spcBef>
        <a:spcAft>
          <a:spcPct val="0"/>
        </a:spcAft>
        <a:defRPr sz="4400" kern="1200">
          <a:solidFill>
            <a:srgbClr val="101576"/>
          </a:solidFill>
          <a:latin typeface="Cambria"/>
          <a:ea typeface="ＭＳ Ｐゴシック" charset="0"/>
          <a:cs typeface="Cambria"/>
        </a:defRPr>
      </a:lvl1pPr>
      <a:lvl2pPr algn="l" defTabSz="457178" rtl="0" eaLnBrk="1" fontAlgn="base" hangingPunct="1">
        <a:spcBef>
          <a:spcPct val="0"/>
        </a:spcBef>
        <a:spcAft>
          <a:spcPct val="0"/>
        </a:spcAft>
        <a:defRPr sz="4400">
          <a:solidFill>
            <a:srgbClr val="101576"/>
          </a:solidFill>
          <a:latin typeface="Calibri" charset="0"/>
          <a:ea typeface="ＭＳ Ｐゴシック" charset="0"/>
        </a:defRPr>
      </a:lvl2pPr>
      <a:lvl3pPr algn="l" defTabSz="457178" rtl="0" eaLnBrk="1" fontAlgn="base" hangingPunct="1">
        <a:spcBef>
          <a:spcPct val="0"/>
        </a:spcBef>
        <a:spcAft>
          <a:spcPct val="0"/>
        </a:spcAft>
        <a:defRPr sz="4400">
          <a:solidFill>
            <a:srgbClr val="101576"/>
          </a:solidFill>
          <a:latin typeface="Calibri" charset="0"/>
          <a:ea typeface="ＭＳ Ｐゴシック" charset="0"/>
        </a:defRPr>
      </a:lvl3pPr>
      <a:lvl4pPr algn="l" defTabSz="457178" rtl="0" eaLnBrk="1" fontAlgn="base" hangingPunct="1">
        <a:spcBef>
          <a:spcPct val="0"/>
        </a:spcBef>
        <a:spcAft>
          <a:spcPct val="0"/>
        </a:spcAft>
        <a:defRPr sz="4400">
          <a:solidFill>
            <a:srgbClr val="101576"/>
          </a:solidFill>
          <a:latin typeface="Calibri" charset="0"/>
          <a:ea typeface="ＭＳ Ｐゴシック" charset="0"/>
        </a:defRPr>
      </a:lvl4pPr>
      <a:lvl5pPr algn="l" defTabSz="457178" rtl="0" eaLnBrk="1" fontAlgn="base" hangingPunct="1">
        <a:spcBef>
          <a:spcPct val="0"/>
        </a:spcBef>
        <a:spcAft>
          <a:spcPct val="0"/>
        </a:spcAft>
        <a:defRPr sz="4400">
          <a:solidFill>
            <a:srgbClr val="101576"/>
          </a:solidFill>
          <a:latin typeface="Calibri" charset="0"/>
          <a:ea typeface="ＭＳ Ｐゴシック" charset="0"/>
        </a:defRPr>
      </a:lvl5pPr>
      <a:lvl6pPr marL="457178" algn="l" defTabSz="457178" rtl="0" eaLnBrk="1" fontAlgn="base" hangingPunct="1">
        <a:spcBef>
          <a:spcPct val="0"/>
        </a:spcBef>
        <a:spcAft>
          <a:spcPct val="0"/>
        </a:spcAft>
        <a:defRPr sz="4400">
          <a:solidFill>
            <a:srgbClr val="101576"/>
          </a:solidFill>
          <a:latin typeface="Calibri" charset="0"/>
          <a:ea typeface="ＭＳ Ｐゴシック" charset="0"/>
        </a:defRPr>
      </a:lvl6pPr>
      <a:lvl7pPr marL="914354" algn="l" defTabSz="457178" rtl="0" eaLnBrk="1" fontAlgn="base" hangingPunct="1">
        <a:spcBef>
          <a:spcPct val="0"/>
        </a:spcBef>
        <a:spcAft>
          <a:spcPct val="0"/>
        </a:spcAft>
        <a:defRPr sz="4400">
          <a:solidFill>
            <a:srgbClr val="101576"/>
          </a:solidFill>
          <a:latin typeface="Calibri" charset="0"/>
          <a:ea typeface="ＭＳ Ｐゴシック" charset="0"/>
        </a:defRPr>
      </a:lvl7pPr>
      <a:lvl8pPr marL="1371532" algn="l" defTabSz="457178" rtl="0" eaLnBrk="1" fontAlgn="base" hangingPunct="1">
        <a:spcBef>
          <a:spcPct val="0"/>
        </a:spcBef>
        <a:spcAft>
          <a:spcPct val="0"/>
        </a:spcAft>
        <a:defRPr sz="4400">
          <a:solidFill>
            <a:srgbClr val="101576"/>
          </a:solidFill>
          <a:latin typeface="Calibri" charset="0"/>
          <a:ea typeface="ＭＳ Ｐゴシック" charset="0"/>
        </a:defRPr>
      </a:lvl8pPr>
      <a:lvl9pPr marL="1828709" algn="l" defTabSz="457178" rtl="0" eaLnBrk="1" fontAlgn="base" hangingPunct="1">
        <a:spcBef>
          <a:spcPct val="0"/>
        </a:spcBef>
        <a:spcAft>
          <a:spcPct val="0"/>
        </a:spcAft>
        <a:defRPr sz="4400">
          <a:solidFill>
            <a:srgbClr val="101576"/>
          </a:solidFill>
          <a:latin typeface="Calibri" charset="0"/>
          <a:ea typeface="ＭＳ Ｐゴシック" charset="0"/>
        </a:defRPr>
      </a:lvl9pPr>
    </p:titleStyle>
    <p:bodyStyle>
      <a:lvl1pPr marL="342882" indent="-342882" algn="l" defTabSz="457178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j-lt"/>
          <a:ea typeface="ＭＳ Ｐゴシック" charset="0"/>
          <a:cs typeface="Arial Rounded MT Bold"/>
        </a:defRPr>
      </a:lvl1pPr>
      <a:lvl2pPr marL="742913" indent="-285737" algn="l" defTabSz="457178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j-lt"/>
          <a:ea typeface="ＭＳ Ｐゴシック" charset="0"/>
          <a:cs typeface="Arial Rounded MT Bold"/>
        </a:defRPr>
      </a:lvl2pPr>
      <a:lvl3pPr marL="1142942" indent="-228589" algn="l" defTabSz="457178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j-lt"/>
          <a:ea typeface="ＭＳ Ｐゴシック" charset="0"/>
          <a:cs typeface="Arial Rounded MT Bold"/>
        </a:defRPr>
      </a:lvl3pPr>
      <a:lvl4pPr marL="1600120" indent="-228589" algn="l" defTabSz="457178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j-lt"/>
          <a:ea typeface="ＭＳ Ｐゴシック" charset="0"/>
          <a:cs typeface="Arial Rounded MT Bold"/>
        </a:defRPr>
      </a:lvl4pPr>
      <a:lvl5pPr marL="2057298" indent="-228589" algn="l" defTabSz="457178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j-lt"/>
          <a:ea typeface="ＭＳ Ｐゴシック" charset="0"/>
          <a:cs typeface="Arial Rounded MT Bold"/>
        </a:defRPr>
      </a:lvl5pPr>
      <a:lvl6pPr marL="2514474" indent="-228589" algn="l" defTabSz="45717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45717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45717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45717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165921" y="4143611"/>
            <a:ext cx="7987135" cy="2033095"/>
          </a:xfrm>
        </p:spPr>
        <p:txBody>
          <a:bodyPr>
            <a:normAutofit fontScale="92500"/>
          </a:bodyPr>
          <a:lstStyle/>
          <a:p>
            <a:r>
              <a:rPr lang="en-US" dirty="0">
                <a:solidFill>
                  <a:schemeClr val="bg1"/>
                </a:solidFill>
              </a:rPr>
              <a:t>Speaker: Alex Nellis, PhD Student and Senior Reactor Operator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Feb 12, 2025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1674C33-8CBE-5643-3516-B8DA7AC63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5922" y="1764063"/>
            <a:ext cx="9860164" cy="2033095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Python and its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166B8-B549-7A3A-6478-8941FF113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54688-CF1C-B412-DFE5-0338D514E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Python?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0A98C-B836-243B-9E44-7DDD9DD4B5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1419228"/>
            <a:ext cx="11064240" cy="5132225"/>
          </a:xfrm>
        </p:spPr>
        <p:txBody>
          <a:bodyPr/>
          <a:lstStyle/>
          <a:p>
            <a:pPr algn="just"/>
            <a:endParaRPr lang="en-US" dirty="0"/>
          </a:p>
          <a:p>
            <a:pPr algn="jus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56089-F26D-A4FA-BCE8-2B11039F7E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B2D39-3515-48F5-9980-35C78B3C6940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BFA9121-8753-655B-06AC-076A4446F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2097" y="393457"/>
            <a:ext cx="8306603" cy="6008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4361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56DED-D94F-7DE2-25A2-321160F28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0F6F6-0BE4-91FB-4B5C-2675E3F1B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DA8FC-7010-99E2-BFE2-DDDD35A66C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3880" y="1419229"/>
            <a:ext cx="11064240" cy="5132225"/>
          </a:xfrm>
        </p:spPr>
        <p:txBody>
          <a:bodyPr/>
          <a:lstStyle/>
          <a:p>
            <a:pPr algn="just"/>
            <a:r>
              <a:rPr lang="en-US" b="1" dirty="0"/>
              <a:t>Most Common Types:</a:t>
            </a:r>
          </a:p>
          <a:p>
            <a:pPr marL="914365" lvl="1" indent="-457189" algn="just">
              <a:buFont typeface="+mj-lt"/>
              <a:buAutoNum type="arabicPeriod"/>
            </a:pPr>
            <a:r>
              <a:rPr lang="en-US" b="1" dirty="0"/>
              <a:t>Integer (int) : used for whole numbers</a:t>
            </a:r>
          </a:p>
          <a:p>
            <a:pPr marL="914365" lvl="1" indent="-457189" algn="just">
              <a:buFont typeface="+mj-lt"/>
              <a:buAutoNum type="arabicPeriod"/>
            </a:pPr>
            <a:r>
              <a:rPr lang="en-US" b="1" dirty="0"/>
              <a:t>Floating Point (float) : used for fractional numbers</a:t>
            </a:r>
          </a:p>
          <a:p>
            <a:pPr marL="914365" lvl="1" indent="-457189" algn="just">
              <a:buFont typeface="+mj-lt"/>
              <a:buAutoNum type="arabicPeriod"/>
            </a:pPr>
            <a:r>
              <a:rPr lang="en-US" b="1" dirty="0"/>
              <a:t>Complex Numbers (complex) : used for imaginary and complex mathematics</a:t>
            </a:r>
          </a:p>
          <a:p>
            <a:pPr marL="914365" lvl="1" indent="-457189" algn="just">
              <a:buFont typeface="+mj-lt"/>
              <a:buAutoNum type="arabicPeriod"/>
            </a:pPr>
            <a:r>
              <a:rPr lang="en-US" b="1" dirty="0"/>
              <a:t>String (str) : used for characters or words</a:t>
            </a:r>
          </a:p>
          <a:p>
            <a:pPr marL="914365" lvl="1" indent="-457189" algn="just">
              <a:buFont typeface="+mj-lt"/>
              <a:buAutoNum type="arabicPeriod"/>
            </a:pPr>
            <a:r>
              <a:rPr lang="en-US" b="1" dirty="0"/>
              <a:t>Boolean (bool) : represents True/False states</a:t>
            </a:r>
          </a:p>
          <a:p>
            <a:pPr marL="914365" lvl="1" indent="-457189" algn="just">
              <a:buFont typeface="+mj-lt"/>
              <a:buAutoNum type="arabicPeriod"/>
            </a:pPr>
            <a:r>
              <a:rPr lang="en-US" b="1" dirty="0"/>
              <a:t>Lists (list) : used for editable collections of other variables</a:t>
            </a:r>
          </a:p>
          <a:p>
            <a:pPr marL="914365" lvl="1" indent="-457189" algn="just">
              <a:buFont typeface="+mj-lt"/>
              <a:buAutoNum type="arabicPeriod"/>
            </a:pPr>
            <a:r>
              <a:rPr lang="en-US" b="1" dirty="0"/>
              <a:t>Tuple (tuple) : used for constant collections of other variables</a:t>
            </a:r>
          </a:p>
          <a:p>
            <a:pPr marL="914365" lvl="1" indent="-457189" algn="just">
              <a:buFont typeface="+mj-lt"/>
              <a:buAutoNum type="arabicPeriod"/>
            </a:pPr>
            <a:r>
              <a:rPr lang="en-US" b="1" dirty="0"/>
              <a:t>Dictionary (</a:t>
            </a:r>
            <a:r>
              <a:rPr lang="en-US" b="1" dirty="0" err="1"/>
              <a:t>dict</a:t>
            </a:r>
            <a:r>
              <a:rPr lang="en-US" b="1" dirty="0"/>
              <a:t>) : used for keyword – value pair collections</a:t>
            </a:r>
          </a:p>
          <a:p>
            <a:pPr marL="914365" lvl="1" indent="-457189" algn="just">
              <a:buFont typeface="+mj-lt"/>
              <a:buAutoNum type="arabicPeriod"/>
            </a:pPr>
            <a:r>
              <a:rPr lang="en-US" b="1" dirty="0" err="1"/>
              <a:t>NoneType</a:t>
            </a:r>
            <a:r>
              <a:rPr lang="en-US" b="1" dirty="0"/>
              <a:t> (None) : used to represent no value or uninitialized variable</a:t>
            </a:r>
          </a:p>
          <a:p>
            <a:pPr marL="57145" indent="0" algn="just">
              <a:buNone/>
            </a:pPr>
            <a:endParaRPr lang="en-US" b="1" dirty="0"/>
          </a:p>
          <a:p>
            <a:pPr marL="914365" lvl="1" indent="-457189" algn="just">
              <a:buFont typeface="+mj-lt"/>
              <a:buAutoNum type="arabicPeriod"/>
            </a:pPr>
            <a:endParaRPr lang="en-US" b="1" dirty="0"/>
          </a:p>
          <a:p>
            <a:pPr marL="914365" lvl="1" indent="-457189" algn="just">
              <a:buFont typeface="+mj-lt"/>
              <a:buAutoNum type="arabicPeriod"/>
            </a:pPr>
            <a:endParaRPr lang="en-US" b="1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C0FC9-AECA-EB1B-A17E-8B4F1A1B63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B2D39-3515-48F5-9980-35C78B3C6940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645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050D1-E6DB-6ADB-548D-86EA4290F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188A0-AC54-A16B-C60A-1FE78AC44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Statements, Branching, and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5F79E-EC5B-B5D5-9F04-05E3A6F50C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3880" y="1419229"/>
            <a:ext cx="11064240" cy="5132225"/>
          </a:xfrm>
        </p:spPr>
        <p:txBody>
          <a:bodyPr/>
          <a:lstStyle/>
          <a:p>
            <a:pPr marL="0" indent="0" algn="just">
              <a:buNone/>
            </a:pPr>
            <a:endParaRPr lang="en-US" b="1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32384-097A-0F7C-944A-725686BE75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B2D39-3515-48F5-9980-35C78B3C6940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311C51-C259-AB19-CE13-2BAFDB648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001" y="3636873"/>
            <a:ext cx="4152900" cy="12096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A8E76DE-BB33-0724-9DF9-3B7E1074C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001" y="2458997"/>
            <a:ext cx="3390900" cy="7429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E61DC91-D763-A24C-00F1-6E3ADB92B8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452" y="2458997"/>
            <a:ext cx="4467225" cy="5715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578712E-CD6E-8DB0-4016-223824F175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448" y="3779752"/>
            <a:ext cx="2533651" cy="5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249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78E0B-0262-E263-23A5-0439D311D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06E3C-07AE-533F-9BB2-9914E697C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EB6C4-24B1-1CCC-9505-14591E5938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3880" y="1419229"/>
            <a:ext cx="11064240" cy="5132225"/>
          </a:xfrm>
        </p:spPr>
        <p:txBody>
          <a:bodyPr/>
          <a:lstStyle/>
          <a:p>
            <a:pPr marL="400037" indent="-342891" algn="just"/>
            <a:r>
              <a:rPr lang="en-US" b="1" dirty="0"/>
              <a:t>90% of the time, someone already wrote code you can use</a:t>
            </a:r>
          </a:p>
          <a:p>
            <a:pPr marL="400037" indent="-342891" algn="just"/>
            <a:endParaRPr lang="en-US" b="1" dirty="0"/>
          </a:p>
          <a:p>
            <a:pPr marL="400037" indent="-342891" algn="just"/>
            <a:endParaRPr lang="en-US" b="1" dirty="0"/>
          </a:p>
          <a:p>
            <a:pPr marL="400037" indent="-342891" algn="just"/>
            <a:endParaRPr lang="en-US" b="1" dirty="0"/>
          </a:p>
          <a:p>
            <a:pPr marL="400037" indent="-342891" algn="just"/>
            <a:endParaRPr lang="en-US" b="1" dirty="0"/>
          </a:p>
          <a:p>
            <a:pPr marL="400037" indent="-342891" algn="just"/>
            <a:r>
              <a:rPr lang="en-US" b="1" dirty="0"/>
              <a:t>Imports can be aliased using the “as” keyword</a:t>
            </a:r>
          </a:p>
          <a:p>
            <a:pPr marL="400037" indent="-342891" algn="just"/>
            <a:r>
              <a:rPr lang="en-US" b="1" dirty="0"/>
              <a:t>Specific functions can be imported with “from”</a:t>
            </a:r>
          </a:p>
          <a:p>
            <a:pPr marL="400037" indent="-342891" algn="just"/>
            <a:endParaRPr lang="en-US" b="1" dirty="0"/>
          </a:p>
          <a:p>
            <a:pPr marL="914365" lvl="1" indent="-457189" algn="just">
              <a:buFont typeface="+mj-lt"/>
              <a:buAutoNum type="arabicPeriod"/>
            </a:pPr>
            <a:endParaRPr lang="en-US" b="1" dirty="0"/>
          </a:p>
          <a:p>
            <a:pPr marL="914365" lvl="1" indent="-457189" algn="just">
              <a:buFont typeface="+mj-lt"/>
              <a:buAutoNum type="arabicPeriod"/>
            </a:pPr>
            <a:endParaRPr lang="en-US" b="1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7FC59D-DF40-1BDC-FDAD-11E956E970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B2D39-3515-48F5-9980-35C78B3C6940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F1E2E0-3E80-2BFE-2ECD-F046638A4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38" y="2248937"/>
            <a:ext cx="3933825" cy="857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173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9FB91-460B-2E37-A91A-F6B0F23B6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2CF4B-7F3B-BF2A-F5BC-B6B5A9B38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 with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8B853-0D66-0B9A-C5D1-93671CABEE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3880" y="1419229"/>
            <a:ext cx="11064240" cy="5132225"/>
          </a:xfrm>
        </p:spPr>
        <p:txBody>
          <a:bodyPr/>
          <a:lstStyle/>
          <a:p>
            <a:pPr marL="400037" indent="-342891" algn="just"/>
            <a:r>
              <a:rPr lang="en-US" b="1" dirty="0"/>
              <a:t>Lists are most commonly used for handling data in Python</a:t>
            </a:r>
          </a:p>
          <a:p>
            <a:pPr marL="400037" indent="-342891" algn="just"/>
            <a:r>
              <a:rPr lang="en-US" b="1" dirty="0"/>
              <a:t>List comprehension is the fastest, native method of generating lists in Python</a:t>
            </a:r>
          </a:p>
          <a:p>
            <a:pPr marL="57145" indent="0" algn="just">
              <a:buNone/>
            </a:pPr>
            <a:endParaRPr lang="en-US" b="1" dirty="0"/>
          </a:p>
          <a:p>
            <a:pPr marL="400037" indent="-342891" algn="just"/>
            <a:r>
              <a:rPr lang="en-US" b="1" dirty="0"/>
              <a:t>Access elements with indexing</a:t>
            </a:r>
          </a:p>
          <a:p>
            <a:pPr marL="400037" indent="-342891" algn="just"/>
            <a:endParaRPr lang="en-US" b="1" dirty="0"/>
          </a:p>
          <a:p>
            <a:pPr marL="400037" indent="-342891" algn="just"/>
            <a:endParaRPr lang="en-US" b="1" dirty="0"/>
          </a:p>
          <a:p>
            <a:pPr marL="400037" indent="-342891" algn="just"/>
            <a:r>
              <a:rPr lang="en-US" b="1" dirty="0"/>
              <a:t>Add elements using “append” or “insert”</a:t>
            </a:r>
          </a:p>
          <a:p>
            <a:pPr marL="400037" indent="-342891" algn="just"/>
            <a:endParaRPr lang="en-US" b="1" dirty="0"/>
          </a:p>
          <a:p>
            <a:pPr marL="400037" indent="-342891" algn="just"/>
            <a:endParaRPr lang="en-US" b="1" dirty="0"/>
          </a:p>
          <a:p>
            <a:pPr marL="400037" indent="-342891" algn="just"/>
            <a:r>
              <a:rPr lang="en-US" b="1" dirty="0"/>
              <a:t>Remove elements with “pop” or “remove”</a:t>
            </a:r>
          </a:p>
          <a:p>
            <a:pPr marL="400037" indent="-342891" algn="just"/>
            <a:endParaRPr lang="en-US" b="1" dirty="0"/>
          </a:p>
          <a:p>
            <a:pPr marL="400037" indent="-342891" algn="just"/>
            <a:endParaRPr lang="en-US" b="1" dirty="0"/>
          </a:p>
          <a:p>
            <a:pPr marL="914365" lvl="1" indent="-457189" algn="just">
              <a:buFont typeface="+mj-lt"/>
              <a:buAutoNum type="arabicPeriod"/>
            </a:pPr>
            <a:endParaRPr lang="en-US" b="1" dirty="0"/>
          </a:p>
          <a:p>
            <a:pPr marL="914365" lvl="1" indent="-457189" algn="just">
              <a:buFont typeface="+mj-lt"/>
              <a:buAutoNum type="arabicPeriod"/>
            </a:pPr>
            <a:endParaRPr lang="en-US" b="1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180768-7E0B-C6F7-E2F5-5B4A3DB8CA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B2D39-3515-48F5-9980-35C78B3C6940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F15218-2D3B-3C51-A852-3D4FB93F2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169" y="2195513"/>
            <a:ext cx="5400675" cy="457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477108D-423C-D055-BBC4-F13891A3E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173" y="3018161"/>
            <a:ext cx="4162425" cy="7239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B3245B1-DF64-4317-EB98-C3613A4522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169" y="4255038"/>
            <a:ext cx="4191000" cy="5619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97DB003-B091-E1D3-2F2D-3855763068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173" y="5473211"/>
            <a:ext cx="4314825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568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D2D63-DD04-90D8-8B6C-F959AC701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5CE99-2CAC-BE03-E238-39A02CE5F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78202-EED4-C9EA-E4AC-55CBFF104E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3880" y="1419229"/>
            <a:ext cx="11064240" cy="5132225"/>
          </a:xfrm>
        </p:spPr>
        <p:txBody>
          <a:bodyPr/>
          <a:lstStyle/>
          <a:p>
            <a:pPr marL="400037" indent="-342891" algn="just"/>
            <a:r>
              <a:rPr lang="en-US" b="1" dirty="0"/>
              <a:t>Traditional declaration</a:t>
            </a:r>
          </a:p>
          <a:p>
            <a:pPr marL="400037" indent="-342891" algn="just"/>
            <a:endParaRPr lang="en-US" b="1" dirty="0"/>
          </a:p>
          <a:p>
            <a:pPr marL="400037" indent="-342891" algn="just"/>
            <a:endParaRPr lang="en-US" b="1" dirty="0"/>
          </a:p>
          <a:p>
            <a:pPr marL="57145" indent="0" algn="just">
              <a:buNone/>
            </a:pPr>
            <a:endParaRPr lang="en-US" b="1" dirty="0"/>
          </a:p>
          <a:p>
            <a:pPr marL="400037" indent="-342891" algn="just"/>
            <a:r>
              <a:rPr lang="en-US" b="1" dirty="0"/>
              <a:t>Lambda declaration</a:t>
            </a:r>
          </a:p>
          <a:p>
            <a:pPr marL="400037" indent="-342891" algn="just"/>
            <a:endParaRPr lang="en-US" b="1" dirty="0"/>
          </a:p>
          <a:p>
            <a:pPr marL="914365" lvl="1" indent="-457189" algn="just">
              <a:buFont typeface="+mj-lt"/>
              <a:buAutoNum type="arabicPeriod"/>
            </a:pPr>
            <a:endParaRPr lang="en-US" b="1" dirty="0"/>
          </a:p>
          <a:p>
            <a:pPr marL="914365" lvl="1" indent="-457189" algn="just">
              <a:buFont typeface="+mj-lt"/>
              <a:buAutoNum type="arabicPeriod"/>
            </a:pPr>
            <a:endParaRPr lang="en-US" b="1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BD68E-6C01-E677-8BCB-DC67758B5A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B2D39-3515-48F5-9980-35C78B3C6940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819684-B586-8D1E-F83D-158ED6F44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609" y="1896843"/>
            <a:ext cx="4486275" cy="10001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33DB30-BDA0-861B-7379-DEFDCC7E8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321" y="3501101"/>
            <a:ext cx="4514851" cy="56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38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4F6B0-1436-3979-577B-E77D67FF0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 with Matplotlib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E9B7C35-20F7-92B1-CD79-23010F1BAA5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678508" y="1294765"/>
            <a:ext cx="4917017" cy="36877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5EC5C-57AA-C688-AD81-756EBA2770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B2D39-3515-48F5-9980-35C78B3C6940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E8B080-019B-60FC-D27D-9A255D716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555" y="2562814"/>
            <a:ext cx="3238500" cy="13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505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81C07-9228-9E54-26A0-BAE9CDFF2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5F68B-3EF0-004E-1D7E-16FC520FC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3531" y="2981590"/>
            <a:ext cx="11064240" cy="635388"/>
          </a:xfrm>
        </p:spPr>
        <p:txBody>
          <a:bodyPr/>
          <a:lstStyle/>
          <a:p>
            <a:r>
              <a:rPr lang="en-US" dirty="0"/>
              <a:t>(Most) Documentation is your Friend!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3CCFF-0634-B2A1-AC2A-5B27D61C2F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B2D39-3515-48F5-9980-35C78B3C6940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907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A905C-D6D3-0D24-2438-81C8E60FC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338DB04-0DF3-F2C9-EFFE-3B4C8824D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5922" y="1764063"/>
            <a:ext cx="9860164" cy="2033095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OpenMC : the people’s Monte Carlo</a:t>
            </a:r>
          </a:p>
        </p:txBody>
      </p:sp>
    </p:spTree>
    <p:extLst>
      <p:ext uri="{BB962C8B-B14F-4D97-AF65-F5344CB8AC3E}">
        <p14:creationId xmlns:p14="http://schemas.microsoft.com/office/powerpoint/2010/main" val="3009804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70399-E69D-68C1-1FE6-92241C43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4F5D0-411C-A299-3027-BE8F77FCE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 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FB618-5176-45DA-5AFE-3F2A73B030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3880" y="1419229"/>
            <a:ext cx="11064240" cy="5132225"/>
          </a:xfrm>
        </p:spPr>
        <p:txBody>
          <a:bodyPr/>
          <a:lstStyle/>
          <a:p>
            <a:pPr marL="400037" indent="-342891" algn="just"/>
            <a:r>
              <a:rPr lang="en-US" b="1" dirty="0"/>
              <a:t>OpenMC Materials require 2-3 things</a:t>
            </a:r>
          </a:p>
          <a:p>
            <a:pPr marL="800068" lvl="1" indent="-342891" algn="just"/>
            <a:r>
              <a:rPr lang="en-US" b="1" dirty="0"/>
              <a:t>Atomic content</a:t>
            </a:r>
          </a:p>
          <a:p>
            <a:pPr marL="800068" lvl="1" indent="-342891" algn="just"/>
            <a:r>
              <a:rPr lang="en-US" b="1" dirty="0"/>
              <a:t>Density</a:t>
            </a:r>
          </a:p>
          <a:p>
            <a:pPr marL="800068" lvl="1" indent="-342891" algn="just"/>
            <a:r>
              <a:rPr lang="en-US" b="1" dirty="0"/>
              <a:t>Thermal Scattering Data (if necessary)</a:t>
            </a:r>
          </a:p>
          <a:p>
            <a:pPr marL="914365" lvl="1" indent="-457189" algn="just">
              <a:buFont typeface="+mj-lt"/>
              <a:buAutoNum type="arabicPeriod"/>
            </a:pPr>
            <a:endParaRPr lang="en-US" b="1" dirty="0"/>
          </a:p>
          <a:p>
            <a:pPr marL="914365" lvl="1" indent="-457189" algn="just">
              <a:buFont typeface="+mj-lt"/>
              <a:buAutoNum type="arabicPeriod"/>
            </a:pPr>
            <a:endParaRPr lang="en-US" b="1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130BA8-08A9-4A5F-7C03-ABB5F1B20E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B2D39-3515-48F5-9980-35C78B3C6940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291038-59AB-78AC-8A66-1A1650DAB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929" y="3307253"/>
            <a:ext cx="3905251" cy="89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196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AD805-8F70-867B-7CA7-2ABF239F2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85315-9DF8-8429-A035-A1ECA1EAE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Geometry 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21EDD-24B2-AE90-2E9B-CD7C346799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3880" y="1419229"/>
            <a:ext cx="11064240" cy="5132225"/>
          </a:xfrm>
        </p:spPr>
        <p:txBody>
          <a:bodyPr/>
          <a:lstStyle/>
          <a:p>
            <a:pPr marL="400037" indent="-342891" algn="just"/>
            <a:r>
              <a:rPr lang="en-US" b="1" dirty="0"/>
              <a:t>OpenMC geometry is generated with Constructive Solid Geometry (CSG)</a:t>
            </a:r>
          </a:p>
          <a:p>
            <a:pPr marL="800068" lvl="1" indent="-342891" algn="just"/>
            <a:r>
              <a:rPr lang="en-US" b="1" dirty="0"/>
              <a:t>Built from basic shapes and surfaces</a:t>
            </a:r>
          </a:p>
          <a:p>
            <a:pPr marL="800068" lvl="1" indent="-342891" algn="just"/>
            <a:r>
              <a:rPr lang="en-US" b="1" dirty="0"/>
              <a:t>Regions defined from inside/outside a given surface</a:t>
            </a:r>
          </a:p>
          <a:p>
            <a:pPr marL="800068" lvl="1" indent="-342891" algn="just"/>
            <a:endParaRPr lang="en-US" b="1" dirty="0"/>
          </a:p>
          <a:p>
            <a:pPr marL="800068" lvl="1" indent="-342891" algn="just"/>
            <a:endParaRPr lang="en-US" b="1" dirty="0"/>
          </a:p>
          <a:p>
            <a:pPr marL="800068" lvl="1" indent="-342891" algn="just"/>
            <a:endParaRPr lang="en-US" b="1" dirty="0"/>
          </a:p>
          <a:p>
            <a:pPr marL="400037" indent="-342891" algn="just"/>
            <a:r>
              <a:rPr lang="en-US" b="1" dirty="0"/>
              <a:t>Cells are built from a material filler and a defining region</a:t>
            </a:r>
          </a:p>
          <a:p>
            <a:pPr marL="400037" indent="-342891" algn="just"/>
            <a:r>
              <a:rPr lang="en-US" b="1" dirty="0"/>
              <a:t>Universes are built from a collection of cells</a:t>
            </a:r>
          </a:p>
          <a:p>
            <a:pPr marL="400037" indent="-342891" algn="just"/>
            <a:r>
              <a:rPr lang="en-US" b="1" dirty="0"/>
              <a:t>Lattices are built from a collection of universes</a:t>
            </a:r>
          </a:p>
          <a:p>
            <a:pPr marL="400037" indent="-342891" algn="just"/>
            <a:endParaRPr lang="en-US" b="1" dirty="0"/>
          </a:p>
          <a:p>
            <a:pPr marL="457177" lvl="1" indent="0" algn="just">
              <a:buNone/>
            </a:pPr>
            <a:endParaRPr lang="en-US" b="1" dirty="0"/>
          </a:p>
          <a:p>
            <a:pPr marL="914365" lvl="1" indent="-457189" algn="just">
              <a:buFont typeface="+mj-lt"/>
              <a:buAutoNum type="arabicPeriod"/>
            </a:pPr>
            <a:endParaRPr lang="en-US" b="1" dirty="0"/>
          </a:p>
          <a:p>
            <a:pPr marL="914365" lvl="1" indent="-457189" algn="just">
              <a:buFont typeface="+mj-lt"/>
              <a:buAutoNum type="arabicPeriod"/>
            </a:pPr>
            <a:endParaRPr lang="en-US" b="1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D14AD-9DB9-D84F-897F-70FADA8A4A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B2D39-3515-48F5-9980-35C78B3C6940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91E207-F6AB-0CEB-F90B-27DA1193A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195" y="2762159"/>
            <a:ext cx="6591300" cy="97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865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4F960-63BD-95FD-B750-43440ACBD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4AC5D-0231-ECE8-E75F-208112AFF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Tallies for When It Needs to 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118EA-8067-F58B-B9EA-BF7849D43A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3880" y="1419229"/>
            <a:ext cx="11064240" cy="5132225"/>
          </a:xfrm>
        </p:spPr>
        <p:txBody>
          <a:bodyPr/>
          <a:lstStyle/>
          <a:p>
            <a:pPr marL="400037" indent="-342891" algn="just"/>
            <a:r>
              <a:rPr lang="en-US" b="1" dirty="0"/>
              <a:t>Tallies collect data when the simulation is running</a:t>
            </a:r>
          </a:p>
          <a:p>
            <a:pPr marL="800068" lvl="1" indent="-342891" algn="just"/>
            <a:r>
              <a:rPr lang="en-US" b="1" dirty="0"/>
              <a:t>From the OpenMC website</a:t>
            </a:r>
          </a:p>
          <a:p>
            <a:pPr marL="800068" lvl="1" indent="-342891" algn="just"/>
            <a:endParaRPr lang="en-US" b="1" dirty="0"/>
          </a:p>
          <a:p>
            <a:pPr marL="800068" lvl="1" indent="-342891" algn="just"/>
            <a:endParaRPr lang="en-US" b="1" dirty="0"/>
          </a:p>
          <a:p>
            <a:pPr marL="800068" lvl="1" indent="-342891" algn="just"/>
            <a:endParaRPr lang="en-US" b="1" dirty="0"/>
          </a:p>
          <a:p>
            <a:pPr marL="800068" lvl="1" indent="-342891" algn="just"/>
            <a:endParaRPr lang="en-US" b="1" dirty="0"/>
          </a:p>
          <a:p>
            <a:pPr marL="400037" indent="-342891" algn="just"/>
            <a:r>
              <a:rPr lang="en-US" b="1" dirty="0"/>
              <a:t>Filters govern where the tally is collected (in space, energy, angle, etc.)</a:t>
            </a:r>
          </a:p>
          <a:p>
            <a:pPr marL="400037" indent="-342891" algn="just"/>
            <a:r>
              <a:rPr lang="en-US" b="1" dirty="0"/>
              <a:t>Scores govern what is collected (fission rate, flux, decay rate)</a:t>
            </a:r>
          </a:p>
          <a:p>
            <a:pPr marL="400037" indent="-342891" algn="just"/>
            <a:endParaRPr lang="en-US" b="1" dirty="0"/>
          </a:p>
          <a:p>
            <a:pPr marL="457177" lvl="1" indent="0" algn="just">
              <a:buNone/>
            </a:pPr>
            <a:endParaRPr lang="en-US" b="1" dirty="0"/>
          </a:p>
          <a:p>
            <a:pPr marL="914365" lvl="1" indent="-457189" algn="just">
              <a:buFont typeface="+mj-lt"/>
              <a:buAutoNum type="arabicPeriod"/>
            </a:pPr>
            <a:endParaRPr lang="en-US" b="1" dirty="0"/>
          </a:p>
          <a:p>
            <a:pPr marL="914365" lvl="1" indent="-457189" algn="just">
              <a:buFont typeface="+mj-lt"/>
              <a:buAutoNum type="arabicPeriod"/>
            </a:pPr>
            <a:endParaRPr lang="en-US" b="1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8CACB-A2BE-CFC6-4B64-D427EBD162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B2D39-3515-48F5-9980-35C78B3C6940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07C5D8-37CC-4304-C87D-FCC735A10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348" y="2270016"/>
            <a:ext cx="5114925" cy="12858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6FE1AB-C325-871C-81F1-19F691542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064" y="4743451"/>
            <a:ext cx="4238625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840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1B3F9-3AD5-4E80-F6B5-4151693FF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Settings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16D834-A4C2-438D-95CD-362AFECF229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48644" y="1419228"/>
                <a:ext cx="4992081" cy="4572441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Particles per batch</a:t>
                </a:r>
              </a:p>
              <a:p>
                <a:r>
                  <a:rPr lang="en-US" b="1" dirty="0"/>
                  <a:t>Number of total batches</a:t>
                </a:r>
              </a:p>
              <a:p>
                <a:r>
                  <a:rPr lang="en-US" b="1" dirty="0"/>
                  <a:t>Number of inactive batches</a:t>
                </a:r>
              </a:p>
              <a:p>
                <a:pPr lvl="1"/>
                <a:r>
                  <a:rPr lang="en-US" b="1" dirty="0"/>
                  <a:t>Converge the fission source before counting tallies</a:t>
                </a:r>
              </a:p>
              <a:p>
                <a:pPr lvl="1"/>
                <a:r>
                  <a:rPr lang="en-US" b="1" dirty="0"/>
                  <a:t>Shannon Entropy can be used to find ideal inactive batch number</a:t>
                </a:r>
              </a:p>
              <a:p>
                <a:endParaRPr lang="en-US" b="1" dirty="0"/>
              </a:p>
              <a:p>
                <a:r>
                  <a:rPr lang="en-US" b="1" dirty="0"/>
                  <a:t>Uncertainty decreases with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b="1" dirty="0"/>
                  <a:t> for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b="1" dirty="0"/>
                  <a:t> particles!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16D834-A4C2-438D-95CD-362AFECF22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48644" y="1419228"/>
                <a:ext cx="4992081" cy="4572441"/>
              </a:xfrm>
              <a:blipFill>
                <a:blip r:embed="rId2"/>
                <a:stretch>
                  <a:fillRect l="-1343" t="-933" r="-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9F504-723A-A11F-4659-B6F3F6F00A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B2D39-3515-48F5-9980-35C78B3C6940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2B1834-ED9B-DABB-F50E-021C10D13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6773" y="866335"/>
            <a:ext cx="6272860" cy="418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550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4B11F-E2E4-BF3A-0715-FEFE8B5E2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8AF0E-9A7B-112B-6060-3917641F6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OpenMC Documentation and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68642-DD59-DE35-EE7A-5D913DA934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4" y="1419225"/>
            <a:ext cx="4992081" cy="3687683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72AD23-7FF8-D5F9-A9A6-448A9590AB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CB2D39-3515-48F5-9980-35C78B3C6940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E17348-B3C7-3BCF-ED69-C459FB715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925" y="1333640"/>
            <a:ext cx="8229599" cy="4862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577948"/>
      </p:ext>
    </p:extLst>
  </p:cSld>
  <p:clrMapOvr>
    <a:masterClrMapping/>
  </p:clrMapOvr>
</p:sld>
</file>

<file path=ppt/theme/theme1.xml><?xml version="1.0" encoding="utf-8"?>
<a:theme xmlns:a="http://schemas.openxmlformats.org/drawingml/2006/main" name="MNE-2018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 anchor="b">
        <a:norm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NucE-template  -  Read-Only" id="{F25660AF-C67C-41F3-96E0-7D62EAD7AFF6}" vid="{91161640-DB06-49DC-B978-76B8007AA6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7cf48d45-3ddb-4389-a9c1-c115526eb52e}" enabled="0" method="" siteId="{7cf48d45-3ddb-4389-a9c1-c115526eb52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MNE-2018</Template>
  <TotalTime>14796</TotalTime>
  <Words>421</Words>
  <Application>Microsoft Office PowerPoint</Application>
  <PresentationFormat>Widescreen</PresentationFormat>
  <Paragraphs>118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Cambria Math</vt:lpstr>
      <vt:lpstr>MNE-2018</vt:lpstr>
      <vt:lpstr>Python and its Applications</vt:lpstr>
      <vt:lpstr>Why Python?</vt:lpstr>
      <vt:lpstr>Basic Syntax</vt:lpstr>
      <vt:lpstr>Logic Statements, Branching, and Loops</vt:lpstr>
      <vt:lpstr>Modules</vt:lpstr>
      <vt:lpstr>Fun with Lists</vt:lpstr>
      <vt:lpstr>Functions</vt:lpstr>
      <vt:lpstr>Data Visualization with Matplotlib</vt:lpstr>
      <vt:lpstr>(Most) Documentation is your Friend!</vt:lpstr>
      <vt:lpstr>OpenMC : the people’s Monte Carlo</vt:lpstr>
      <vt:lpstr>Material Definitions</vt:lpstr>
      <vt:lpstr>Geometry Definitions</vt:lpstr>
      <vt:lpstr>Tallies for When It Needs to Count</vt:lpstr>
      <vt:lpstr>Simulation Settings</vt:lpstr>
      <vt:lpstr>OpenMC Documentation and 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NUCE 430: Design Principles of Reactor Systems</dc:title>
  <dc:creator>Microsoft Office User</dc:creator>
  <cp:lastModifiedBy>Nellis, Alex</cp:lastModifiedBy>
  <cp:revision>5</cp:revision>
  <cp:lastPrinted>2024-12-12T17:51:21Z</cp:lastPrinted>
  <dcterms:created xsi:type="dcterms:W3CDTF">2019-08-26T02:18:07Z</dcterms:created>
  <dcterms:modified xsi:type="dcterms:W3CDTF">2025-02-12T21:09:22Z</dcterms:modified>
</cp:coreProperties>
</file>